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37160" cy="3200400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A5C36"/>
                </a:solidFill>
                <a:latin typeface="Calibri"/>
              </a:rPr>
              <a:t>Consular Workflow Improvement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Calibri"/>
              </a:rPr>
              <a:t>Pilot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Embassy of Nigeria, Paris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B6B6B"/>
                </a:solidFill>
                <a:latin typeface="Calibri"/>
              </a:rPr>
              <a:t>[Your Name]
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A5C36"/>
                </a:solidFill>
                <a:latin typeface="Calibri"/>
              </a:rPr>
              <a:t>Current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2286000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3619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447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High volume of passport applications processed manually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7627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8483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Frequent applicant follow-ups via email and phone calls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1635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2491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Limited visibility into application status for applicants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56431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364991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Manual document handling increases error risk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09651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00507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Delays caused by incomplete or incorrect submissions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A5C36"/>
                </a:solidFill>
                <a:latin typeface="Calibri"/>
              </a:rPr>
              <a:t>Operational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2286000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3619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447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Increased workload for consular staff due to repetitive inquiries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7627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8483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Significant time spent on manual communication with applicants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1635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2491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Difficulty tracking application progress across multiple cases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56431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364991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Reduced overall efficiency in document processing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A5C36"/>
                </a:solidFill>
                <a:latin typeface="Calibri"/>
              </a:rPr>
              <a:t>Proposed Solution (Pilot)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2286000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3619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447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Simple digital portal for applicants and consular staff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7627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8483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Structured document submission with completeness checks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1635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2491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Real-time application status tracking for applicants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56431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364991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Centralized review dashboard for consular officers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A5C36"/>
                </a:solidFill>
                <a:latin typeface="Calibri"/>
              </a:rPr>
              <a:t>How the System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2286000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19456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A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514600"/>
            <a:ext cx="640080" cy="640080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37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Calibri"/>
              </a:rPr>
              <a:t>Applicant submits
application + documents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3154680"/>
            <a:ext cx="457200" cy="274320"/>
          </a:xfrm>
          <a:prstGeom prst="rightArrow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286000"/>
            <a:ext cx="219456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A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2514600"/>
            <a:ext cx="640080" cy="640080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37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Calibri"/>
              </a:rPr>
              <a:t>Embassy reviews
documents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3154680"/>
            <a:ext cx="457200" cy="274320"/>
          </a:xfrm>
          <a:prstGeom prst="rightArrow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219456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A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8040" y="2514600"/>
            <a:ext cx="640080" cy="640080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Calibri"/>
              </a:rPr>
              <a:t>Status is updated
in real-time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41080" y="3154680"/>
            <a:ext cx="457200" cy="274320"/>
          </a:xfrm>
          <a:prstGeom prst="rightArrow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2286000"/>
            <a:ext cx="219456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A5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21240" y="2514600"/>
            <a:ext cx="640080" cy="640080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337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Calibri"/>
              </a:rPr>
              <a:t>Applicant tracks
progress online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A5C36"/>
                </a:solidFill>
                <a:latin typeface="Calibri"/>
              </a:rPr>
              <a:t>Prototype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2286000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34747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[Insert Screenshot]
Application Portal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1999" y="1645920"/>
            <a:ext cx="34747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3291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[Insert Screenshot]
Document 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38" y="1645920"/>
            <a:ext cx="347472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8" y="3291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B6B6B"/>
                </a:solidFill>
                <a:latin typeface="Calibri"/>
              </a:rPr>
              <a:t>[Insert Screenshot]
Admin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A5C36"/>
                </a:solidFill>
                <a:latin typeface="Calibri"/>
              </a:rPr>
              <a:t>Expected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2286000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3619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447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Reduced applicant inquiries through self-service status tracking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7627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8483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Improved processing efficiency with structured document submission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1635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2491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Better document organization and centralized review workflow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56431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364991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Increased transparency and trust for applicants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A5C36"/>
                </a:solidFill>
                <a:latin typeface="Calibri"/>
              </a:rPr>
              <a:t>Pilot Proposal (Paris Embassy)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2286000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3619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4475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Limited scope: Paris consular section only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7627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8483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No changes to existing embassy systems or infrastructure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16352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24912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Low-risk implementation alongside current processes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456431"/>
            <a:ext cx="109728" cy="109728"/>
          </a:xfrm>
          <a:prstGeom prst="ellipse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364991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Short evaluation period: 4 to 8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B6B6B"/>
                </a:solidFill>
                <a:latin typeface="Calibri"/>
              </a:rPr>
              <a:t>This pilot is designed to complement, not replace, existing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37160" cy="2286000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A5C36"/>
                </a:solidFill>
                <a:latin typeface="Calibri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0">
                <a:solidFill>
                  <a:srgbClr val="1A1A1A"/>
                </a:solidFill>
                <a:latin typeface="Calibri"/>
              </a:rPr>
              <a:t>Short demonstration and feedback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6B6B6B"/>
                </a:solidFill>
                <a:latin typeface="Calibri"/>
              </a:rPr>
              <a:t>I am available at your convenience for a brief presentation
of the prototype and to gather your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6B6B6B"/>
                </a:solidFill>
                <a:latin typeface="Calibri"/>
              </a:rPr>
              <a:t>[Your Name]  |  [Phone Number]  |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